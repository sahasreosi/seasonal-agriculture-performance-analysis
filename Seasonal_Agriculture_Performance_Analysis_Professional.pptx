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>
          <p15:clr>
            <a:srgbClr val="A4A3A4"/>
          </p15:clr>
        </p15:guide>
        <p15:guide id="2" pos="408">
          <p15:clr>
            <a:srgbClr val="A4A3A4"/>
          </p15:clr>
        </p15:guide>
        <p15:guide id="3" orient="horz" pos="3912">
          <p15:clr>
            <a:srgbClr val="A4A3A4"/>
          </p15:clr>
        </p15:guide>
        <p15:guide id="4" pos="7272">
          <p15:clr>
            <a:srgbClr val="A4A3A4"/>
          </p15:clr>
        </p15:guide>
        <p15:guide id="5" orient="horz" pos="16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 bwMode="auto">
          <a:xfrm>
            <a:off x="0" y="-8467"/>
            <a:ext cx="12192000" cy="6866466"/>
            <a:chOff x="0" y="-8467"/>
            <a:chExt cx="12192000" cy="6866466"/>
          </a:xfrm>
        </p:grpSpPr>
        <p:sp>
          <p:nvSpPr>
            <p:cNvPr id="15" name="Freeform 14"/>
            <p:cNvSpPr/>
            <p:nvPr/>
          </p:nvSpPr>
          <p:spPr bwMode="auto">
            <a:xfrm>
              <a:off x="0" y="-7862"/>
              <a:ext cx="863599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 extrusionOk="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>
              <a:cxnSpLocks/>
            </p:cNvCxnSpPr>
            <p:nvPr/>
          </p:nvCxnSpPr>
          <p:spPr bwMode="auto"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cxnSpLocks/>
            </p:cNvCxnSpPr>
            <p:nvPr/>
          </p:nvCxnSpPr>
          <p:spPr bwMode="auto"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 bwMode="auto">
            <a:xfrm>
              <a:off x="9181476" y="-8467"/>
              <a:ext cx="3007349" cy="6866466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 bwMode="auto">
            <a:xfrm>
              <a:off x="9603442" y="-8467"/>
              <a:ext cx="2588558" cy="6866466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 bwMode="auto">
            <a:xfrm>
              <a:off x="8932333" y="3048000"/>
              <a:ext cx="3259666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 bwMode="auto">
            <a:xfrm>
              <a:off x="9334500" y="-8467"/>
              <a:ext cx="2854326" cy="6866466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 bwMode="auto">
            <a:xfrm>
              <a:off x="10898730" y="-8467"/>
              <a:ext cx="1290094" cy="6866466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 bwMode="auto">
            <a:xfrm>
              <a:off x="10938999" y="-8467"/>
              <a:ext cx="1249825" cy="6866466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 bwMode="auto">
            <a:xfrm>
              <a:off x="10371666" y="3589867"/>
              <a:ext cx="1817158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77334" y="2160589"/>
            <a:ext cx="4184035" cy="388077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089970" y="2160589"/>
            <a:ext cx="4184034" cy="3880773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B712588-04B1-427B-82EE-E8DB90309F08}" type="datetimeFigureOut">
              <a:rPr lang="en-US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FF9F0C5-380F-41C2-899A-BAC0F0927E1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77334" y="609600"/>
            <a:ext cx="8596668" cy="1320800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2A54C80-263E-416B-A8E0-580EDEADCBDC}" type="datetimeFigureOut">
              <a:rPr lang="en-US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19954A3-9DFD-4C44-94BA-B95130A3BA1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9/10/2026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and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Quot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 bwMode="auto">
          <a:xfrm>
            <a:off x="541870" y="790378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8893011" y="2886556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Quote 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 bwMode="auto">
          <a:xfrm>
            <a:off x="541870" y="790378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8893011" y="2886556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rue or Fal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5C6B4A9-1611-4792-9094-5F34BCA07E0B}" type="datetimeFigureOut">
              <a:rPr lang="en-US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9333C77-0158-454C-844F-B7AB9BD7DAD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7967673" y="609599"/>
            <a:ext cx="1304743" cy="5251451"/>
          </a:xfrm>
        </p:spPr>
        <p:txBody>
          <a:bodyPr vert="eaVert" anchor="ctr"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77335" y="609600"/>
            <a:ext cx="7060150" cy="5251450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Quo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 bwMode="auto"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</p:txBody>
      </p:sp>
      <p:sp>
        <p:nvSpPr>
          <p:cNvPr id="15" name="Hexagon 14"/>
          <p:cNvSpPr/>
          <p:nvPr userDrawn="1"/>
        </p:nvSpPr>
        <p:spPr bwMode="auto">
          <a:xfrm>
            <a:off x="740309" y="1382809"/>
            <a:ext cx="1229566" cy="1059971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Hexagon 15"/>
          <p:cNvSpPr/>
          <p:nvPr userDrawn="1"/>
        </p:nvSpPr>
        <p:spPr bwMode="auto">
          <a:xfrm>
            <a:off x="3755031" y="1194620"/>
            <a:ext cx="1666162" cy="1436347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Hexagon 16"/>
          <p:cNvSpPr/>
          <p:nvPr userDrawn="1"/>
        </p:nvSpPr>
        <p:spPr bwMode="auto">
          <a:xfrm>
            <a:off x="3804994" y="5233183"/>
            <a:ext cx="718261" cy="619191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Hexagon 17"/>
          <p:cNvSpPr/>
          <p:nvPr userDrawn="1"/>
        </p:nvSpPr>
        <p:spPr bwMode="auto">
          <a:xfrm>
            <a:off x="1837838" y="1101306"/>
            <a:ext cx="651613" cy="561736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2"/>
          </p:nvPr>
        </p:nvSpPr>
        <p:spPr bwMode="auto"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 extrusionOk="0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pPr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Introdu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 userDrawn="1"/>
        </p:nvSpPr>
        <p:spPr bwMode="auto"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accent5"/>
              </a:solidFill>
            </a:endParaRPr>
          </a:p>
        </p:txBody>
      </p:sp>
      <p:sp>
        <p:nvSpPr>
          <p:cNvPr id="14" name="Oval 13"/>
          <p:cNvSpPr/>
          <p:nvPr userDrawn="1"/>
        </p:nvSpPr>
        <p:spPr bwMode="auto"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accent5"/>
              </a:solidFill>
            </a:endParaRPr>
          </a:p>
        </p:txBody>
      </p:sp>
      <p:sp>
        <p:nvSpPr>
          <p:cNvPr id="16" name="Oval 15"/>
          <p:cNvSpPr/>
          <p:nvPr userDrawn="1"/>
        </p:nvSpPr>
        <p:spPr bwMode="auto"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accent5"/>
              </a:solidFill>
            </a:endParaRPr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 bwMode="auto"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 extrusionOk="0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pPr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2"/>
          </p:nvPr>
        </p:nvSpPr>
        <p:spPr bwMode="auto"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/>
              <a:buChar char="§"/>
              <a:defRPr sz="2000"/>
            </a:lvl1pPr>
            <a:lvl2pPr>
              <a:buClr>
                <a:schemeClr val="accent4"/>
              </a:buClr>
              <a:buFont typeface="Wingdings"/>
              <a:buChar char="§"/>
              <a:defRPr sz="2000"/>
            </a:lvl2pPr>
            <a:lvl3pPr>
              <a:buClr>
                <a:schemeClr val="accent4"/>
              </a:buClr>
              <a:buFont typeface="Wingdings"/>
              <a:buChar char="§"/>
              <a:defRPr sz="1800"/>
            </a:lvl3pPr>
            <a:lvl4pPr>
              <a:buClr>
                <a:schemeClr val="accent4"/>
              </a:buClr>
              <a:buFont typeface="Wingdings"/>
              <a:buChar char="§"/>
              <a:defRPr sz="1800"/>
            </a:lvl4pPr>
            <a:lvl5pPr>
              <a:buClr>
                <a:schemeClr val="accent4"/>
              </a:buClr>
              <a:buFont typeface="Wingdings"/>
              <a:buChar char="§"/>
              <a:defRPr sz="18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 bwMode="auto"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A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 Placeholder 26"/>
          <p:cNvSpPr>
            <a:spLocks noGrp="1"/>
          </p:cNvSpPr>
          <p:nvPr>
            <p:ph type="body" sz="quarter" idx="12"/>
          </p:nvPr>
        </p:nvSpPr>
        <p:spPr bwMode="auto"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/>
              <a:buChar char="§"/>
              <a:defRPr sz="2000"/>
            </a:lvl1pPr>
            <a:lvl2pPr>
              <a:buClr>
                <a:schemeClr val="accent4"/>
              </a:buClr>
              <a:buFont typeface="Wingdings"/>
              <a:buChar char="§"/>
              <a:defRPr sz="1800"/>
            </a:lvl2pPr>
            <a:lvl3pPr>
              <a:buClr>
                <a:schemeClr val="accent4"/>
              </a:buClr>
              <a:buFont typeface="Wingdings"/>
              <a:buChar char="§"/>
              <a:defRPr sz="1600"/>
            </a:lvl3pPr>
            <a:lvl4pPr>
              <a:buClr>
                <a:schemeClr val="accent4"/>
              </a:buClr>
              <a:buFont typeface="Wingdings"/>
              <a:buChar char="§"/>
              <a:defRPr sz="1600"/>
            </a:lvl4pPr>
            <a:lvl5pPr>
              <a:buClr>
                <a:schemeClr val="accent4"/>
              </a:buClr>
              <a:buFont typeface="Wingdings"/>
              <a:buChar char="§"/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" name="Rectangle 18"/>
          <p:cNvSpPr/>
          <p:nvPr userDrawn="1"/>
        </p:nvSpPr>
        <p:spPr bwMode="auto"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" name="Rectangle 20"/>
          <p:cNvSpPr/>
          <p:nvPr userDrawn="1"/>
        </p:nvSpPr>
        <p:spPr bwMode="auto"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 userDrawn="1"/>
        </p:nvSpPr>
        <p:spPr bwMode="auto"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 bwMode="auto"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 extrusionOk="0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pPr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ea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" name="Picture Placeholder 38"/>
          <p:cNvSpPr>
            <a:spLocks noGrp="1"/>
          </p:cNvSpPr>
          <p:nvPr>
            <p:ph type="pic" sz="quarter" idx="22"/>
          </p:nvPr>
        </p:nvSpPr>
        <p:spPr bwMode="auto">
          <a:xfrm>
            <a:off x="5353508" y="2555550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 extrusionOk="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pPr>
              <a:defRPr/>
            </a:pPr>
            <a:r>
              <a:rPr lang="en-US"/>
              <a:t>Click icon to add picture</a:t>
            </a:r>
          </a:p>
        </p:txBody>
      </p:sp>
      <p:sp>
        <p:nvSpPr>
          <p:cNvPr id="38" name="Picture Placeholder 37"/>
          <p:cNvSpPr>
            <a:spLocks noGrp="1"/>
          </p:cNvSpPr>
          <p:nvPr>
            <p:ph type="pic" sz="quarter" idx="21"/>
          </p:nvPr>
        </p:nvSpPr>
        <p:spPr bwMode="auto">
          <a:xfrm>
            <a:off x="3115921" y="2555550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 extrusionOk="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pPr>
              <a:defRPr/>
            </a:pPr>
            <a:r>
              <a:rPr lang="en-US"/>
              <a:t>Click icon to add picture</a:t>
            </a:r>
          </a:p>
        </p:txBody>
      </p:sp>
      <p:sp>
        <p:nvSpPr>
          <p:cNvPr id="40" name="Picture Placeholder 39"/>
          <p:cNvSpPr>
            <a:spLocks noGrp="1"/>
          </p:cNvSpPr>
          <p:nvPr>
            <p:ph type="pic" sz="quarter" idx="23"/>
          </p:nvPr>
        </p:nvSpPr>
        <p:spPr bwMode="auto">
          <a:xfrm>
            <a:off x="7602465" y="2555550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 extrusionOk="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pPr>
              <a:defRPr/>
            </a:pPr>
            <a:r>
              <a:rPr lang="en-US"/>
              <a:t>Click icon to add picture</a:t>
            </a:r>
          </a:p>
        </p:txBody>
      </p:sp>
      <p:sp>
        <p:nvSpPr>
          <p:cNvPr id="41" name="Picture Placeholder 40"/>
          <p:cNvSpPr>
            <a:spLocks noGrp="1"/>
          </p:cNvSpPr>
          <p:nvPr>
            <p:ph type="pic" sz="quarter" idx="24"/>
          </p:nvPr>
        </p:nvSpPr>
        <p:spPr bwMode="auto">
          <a:xfrm>
            <a:off x="9840051" y="2555550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 extrusionOk="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pPr>
              <a:defRPr/>
            </a:pPr>
            <a:r>
              <a:rPr lang="en-US"/>
              <a:t>Click icon to add picture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 bwMode="auto"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>
              <a:defRPr/>
            </a:pPr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9" name="Hexagon 8"/>
          <p:cNvSpPr/>
          <p:nvPr userDrawn="1"/>
        </p:nvSpPr>
        <p:spPr bwMode="auto">
          <a:xfrm>
            <a:off x="546669" y="3467555"/>
            <a:ext cx="458268" cy="39505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Hexagon 9"/>
          <p:cNvSpPr/>
          <p:nvPr userDrawn="1"/>
        </p:nvSpPr>
        <p:spPr bwMode="auto">
          <a:xfrm>
            <a:off x="11113337" y="2394722"/>
            <a:ext cx="358391" cy="308957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Hexagon 10"/>
          <p:cNvSpPr/>
          <p:nvPr userDrawn="1"/>
        </p:nvSpPr>
        <p:spPr bwMode="auto">
          <a:xfrm>
            <a:off x="10882649" y="2202202"/>
            <a:ext cx="230688" cy="19886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/>
          </p:nvPr>
        </p:nvSpPr>
        <p:spPr bwMode="auto"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11"/>
          </p:nvPr>
        </p:nvSpPr>
        <p:spPr bwMode="auto"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2"/>
          </p:nvPr>
        </p:nvSpPr>
        <p:spPr bwMode="auto"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8" name="Text Placeholder 22"/>
          <p:cNvSpPr>
            <a:spLocks noGrp="1"/>
          </p:cNvSpPr>
          <p:nvPr>
            <p:ph type="body" sz="quarter" idx="13"/>
          </p:nvPr>
        </p:nvSpPr>
        <p:spPr bwMode="auto"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14"/>
          </p:nvPr>
        </p:nvSpPr>
        <p:spPr bwMode="auto"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" name="Text Placeholder 22"/>
          <p:cNvSpPr>
            <a:spLocks noGrp="1"/>
          </p:cNvSpPr>
          <p:nvPr>
            <p:ph type="body" sz="quarter" idx="15"/>
          </p:nvPr>
        </p:nvSpPr>
        <p:spPr bwMode="auto"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1" name="Text Placeholder 22"/>
          <p:cNvSpPr>
            <a:spLocks noGrp="1"/>
          </p:cNvSpPr>
          <p:nvPr>
            <p:ph type="body" sz="quarter" idx="16"/>
          </p:nvPr>
        </p:nvSpPr>
        <p:spPr bwMode="auto"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2" name="Text Placeholder 22"/>
          <p:cNvSpPr>
            <a:spLocks noGrp="1"/>
          </p:cNvSpPr>
          <p:nvPr>
            <p:ph type="body" sz="quarter" idx="17"/>
          </p:nvPr>
        </p:nvSpPr>
        <p:spPr bwMode="auto"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8"/>
          </p:nvPr>
        </p:nvSpPr>
        <p:spPr bwMode="auto"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9"/>
          </p:nvPr>
        </p:nvSpPr>
        <p:spPr bwMode="auto"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7" name="Picture Placeholder 36"/>
          <p:cNvSpPr>
            <a:spLocks noGrp="1"/>
          </p:cNvSpPr>
          <p:nvPr>
            <p:ph type="pic" sz="quarter" idx="20"/>
          </p:nvPr>
        </p:nvSpPr>
        <p:spPr bwMode="auto">
          <a:xfrm>
            <a:off x="878337" y="2555550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 extrusionOk="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pPr>
              <a:defRPr/>
            </a:pPr>
            <a:r>
              <a:rPr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Picture Placeholder 21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" name="Rectangle 1" descr="Tall office building looking up"/>
          <p:cNvSpPr/>
          <p:nvPr userDrawn="1"/>
        </p:nvSpPr>
        <p:spPr bwMode="auto"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>
                <a:solidFill>
                  <a:schemeClr val="accent4"/>
                </a:solidFill>
                <a:latin typeface="Calibri"/>
                <a:ea typeface="+mn-ea"/>
                <a:cs typeface="Calibri"/>
              </a:defRPr>
            </a:lvl1pPr>
            <a:lvl2pPr>
              <a:buNone/>
              <a:defRPr/>
            </a:lvl2pPr>
          </a:lstStyle>
          <a:p>
            <a:pPr lvl="0">
              <a:defRPr/>
            </a:pPr>
            <a:r>
              <a:rPr lang="en-US"/>
              <a:t>Click to edit text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 bwMode="auto"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 bwMode="auto">
          <a:xfrm>
            <a:off x="0" y="-8467"/>
            <a:ext cx="12192000" cy="6866466"/>
            <a:chOff x="0" y="-8467"/>
            <a:chExt cx="12192000" cy="6866466"/>
          </a:xfrm>
        </p:grpSpPr>
        <p:cxnSp>
          <p:nvCxnSpPr>
            <p:cNvPr id="20" name="Straight Connector 19"/>
            <p:cNvCxnSpPr>
              <a:cxnSpLocks/>
            </p:cNvCxnSpPr>
            <p:nvPr/>
          </p:nvCxnSpPr>
          <p:spPr bwMode="auto"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cxnSpLocks/>
            </p:cNvCxnSpPr>
            <p:nvPr/>
          </p:nvCxnSpPr>
          <p:spPr bwMode="auto"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 bwMode="auto">
            <a:xfrm>
              <a:off x="9181476" y="-8467"/>
              <a:ext cx="3007349" cy="6866466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 bwMode="auto">
            <a:xfrm>
              <a:off x="9603442" y="-8467"/>
              <a:ext cx="2588558" cy="6866466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 bwMode="auto">
            <a:xfrm>
              <a:off x="8932333" y="3048000"/>
              <a:ext cx="3259666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 bwMode="auto">
            <a:xfrm>
              <a:off x="9334500" y="-8467"/>
              <a:ext cx="2854326" cy="6866466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 bwMode="auto">
            <a:xfrm>
              <a:off x="10898730" y="-8467"/>
              <a:ext cx="1290094" cy="6866466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 bwMode="auto">
            <a:xfrm>
              <a:off x="10938999" y="-8467"/>
              <a:ext cx="1249825" cy="6866466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 bwMode="auto">
            <a:xfrm>
              <a:off x="10371666" y="3589867"/>
              <a:ext cx="1817158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 bwMode="auto"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677334" y="6041362"/>
            <a:ext cx="62976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lvl1pPr algn="l" defTabSz="457200">
        <a:spcBef>
          <a:spcPts val="0"/>
        </a:spcBef>
        <a:buNone/>
        <a:defRPr sz="3600">
          <a:solidFill>
            <a:schemeClr val="accent1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9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19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19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 bwMode="auto">
          <a:xfrm>
            <a:off x="0" y="0"/>
            <a:ext cx="228600" cy="6858000"/>
          </a:xfrm>
          <a:prstGeom prst="rect">
            <a:avLst/>
          </a:prstGeom>
          <a:solidFill>
            <a:srgbClr val="307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TextBox 39"/>
          <p:cNvSpPr txBox="1"/>
          <p:nvPr/>
        </p:nvSpPr>
        <p:spPr bwMode="auto">
          <a:xfrm>
            <a:off x="777240" y="7315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83054"/>
                </a:solidFill>
              </a:defRPr>
            </a:pPr>
            <a:r>
              <a:t>SEASONAL AGRICULTURE</a:t>
            </a:r>
          </a:p>
        </p:txBody>
      </p:sp>
      <p:sp>
        <p:nvSpPr>
          <p:cNvPr id="41" name="TextBox 40"/>
          <p:cNvSpPr txBox="1"/>
          <p:nvPr/>
        </p:nvSpPr>
        <p:spPr bwMode="auto">
          <a:xfrm>
            <a:off x="777240" y="1417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07852"/>
                </a:solidFill>
              </a:defRPr>
            </a:pPr>
            <a:r>
              <a:t>PERFORMANCE ANALYSIS</a:t>
            </a:r>
          </a:p>
        </p:txBody>
      </p:sp>
      <p:sp>
        <p:nvSpPr>
          <p:cNvPr id="42" name="TextBox 41"/>
          <p:cNvSpPr txBox="1"/>
          <p:nvPr/>
        </p:nvSpPr>
        <p:spPr bwMode="auto">
          <a:xfrm>
            <a:off x="777240" y="2240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5F696E"/>
                </a:solidFill>
              </a:defRPr>
            </a:pPr>
            <a:r>
              <a:t>Major Project • Data Analytics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777240" y="42519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3282D"/>
                </a:solidFill>
              </a:defRPr>
            </a:pPr>
            <a:r>
              <a:rPr dirty="0" err="1"/>
              <a:t>Sreosi</a:t>
            </a:r>
            <a:r>
              <a:rPr dirty="0"/>
              <a:t> </a:t>
            </a:r>
            <a:r>
              <a:rPr dirty="0" err="1"/>
              <a:t>Saha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 bwMode="auto">
          <a:xfrm>
            <a:off x="777240" y="46177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F696E"/>
                </a:solidFill>
              </a:defRPr>
            </a:pPr>
            <a:r>
              <a:t>Manipal University Jaipur (MUJ)</a:t>
            </a:r>
          </a:p>
        </p:txBody>
      </p:sp>
      <p:sp>
        <p:nvSpPr>
          <p:cNvPr id="45" name="Rounded Rectangle 44"/>
          <p:cNvSpPr/>
          <p:nvPr/>
        </p:nvSpPr>
        <p:spPr bwMode="auto">
          <a:xfrm>
            <a:off x="8574690" y="4069080"/>
            <a:ext cx="1300830" cy="105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TextBox 45"/>
          <p:cNvSpPr txBox="1"/>
          <p:nvPr/>
        </p:nvSpPr>
        <p:spPr bwMode="auto">
          <a:xfrm>
            <a:off x="8574691" y="4135400"/>
            <a:ext cx="13201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500" b="1" dirty="0">
                <a:solidFill>
                  <a:srgbClr val="307852"/>
                </a:solidFill>
              </a:rPr>
              <a:t>4,000</a:t>
            </a:r>
            <a:endParaRPr dirty="0"/>
          </a:p>
          <a:p>
            <a:pPr algn="ctr">
              <a:defRPr sz="1100">
                <a:solidFill>
                  <a:srgbClr val="5F696E"/>
                </a:solidFill>
              </a:defRPr>
            </a:pPr>
            <a:r>
              <a:rPr dirty="0"/>
              <a:t>Records</a:t>
            </a:r>
          </a:p>
        </p:txBody>
      </p:sp>
      <p:sp>
        <p:nvSpPr>
          <p:cNvPr id="47" name="Rounded Rectangle 46"/>
          <p:cNvSpPr/>
          <p:nvPr/>
        </p:nvSpPr>
        <p:spPr bwMode="auto">
          <a:xfrm>
            <a:off x="10012680" y="4069080"/>
            <a:ext cx="1051560" cy="105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TextBox 47"/>
          <p:cNvSpPr txBox="1"/>
          <p:nvPr/>
        </p:nvSpPr>
        <p:spPr bwMode="auto">
          <a:xfrm>
            <a:off x="10177272" y="4187952"/>
            <a:ext cx="722375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500" b="1">
                <a:solidFill>
                  <a:srgbClr val="307852"/>
                </a:solidFill>
              </a:rPr>
              <a:t>28</a:t>
            </a:r>
            <a:endParaRPr/>
          </a:p>
          <a:p>
            <a:pPr algn="ctr">
              <a:defRPr sz="1100">
                <a:solidFill>
                  <a:srgbClr val="5F696E"/>
                </a:solidFill>
              </a:defRPr>
            </a:pPr>
            <a:r>
              <a:t>Fields</a:t>
            </a:r>
          </a:p>
        </p:txBody>
      </p:sp>
      <p:sp>
        <p:nvSpPr>
          <p:cNvPr id="49" name="Rectangle 48"/>
          <p:cNvSpPr/>
          <p:nvPr/>
        </p:nvSpPr>
        <p:spPr bwMode="auto">
          <a:xfrm>
            <a:off x="594360" y="6537960"/>
            <a:ext cx="10698480" cy="27432"/>
          </a:xfrm>
          <a:prstGeom prst="rect">
            <a:avLst/>
          </a:prstGeom>
          <a:solidFill>
            <a:srgbClr val="CE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TextBox 49"/>
          <p:cNvSpPr txBox="1"/>
          <p:nvPr/>
        </p:nvSpPr>
        <p:spPr bwMode="auto">
          <a:xfrm>
            <a:off x="10789920" y="658368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E"/>
                </a:solidFill>
              </a:defRPr>
            </a:pPr>
            <a: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48301A-71C5-B49C-5F82-681854557F61}"/>
              </a:ext>
            </a:extLst>
          </p:cNvPr>
          <p:cNvSpPr txBox="1"/>
          <p:nvPr/>
        </p:nvSpPr>
        <p:spPr>
          <a:xfrm>
            <a:off x="1366345" y="3312440"/>
            <a:ext cx="7806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AICTE STD ID</a:t>
            </a:r>
            <a:r>
              <a:rPr lang="en-US" dirty="0"/>
              <a:t>:</a:t>
            </a:r>
            <a:r>
              <a:rPr lang="en-US" sz="2800" dirty="0">
                <a:latin typeface="Angsana New" panose="020B0502040504020204" pitchFamily="34" charset="0"/>
              </a:rPr>
              <a:t>STU6a6b4aa9320441785416361_SREOSI SAHA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 bwMode="auto"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700" b="1">
                <a:solidFill>
                  <a:srgbClr val="183054"/>
                </a:solidFill>
              </a:rPr>
              <a:t>Problem Statement</a:t>
            </a: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200">
                <a:solidFill>
                  <a:srgbClr val="5F696E"/>
                </a:solidFill>
              </a:rPr>
              <a:t>Why seasonal analysis matters</a:t>
            </a: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822960" y="1417320"/>
            <a:ext cx="10241280" cy="3017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82D"/>
                </a:solidFill>
              </a:defRPr>
            </a:pPr>
            <a:r>
              <a:t>• Agricultural performance changes with season, weather, resources and market conditions.</a:t>
            </a:r>
          </a:p>
          <a:p>
            <a:pPr>
              <a:spcAft>
                <a:spcPts val="900"/>
              </a:spcAft>
              <a:defRPr sz="1800">
                <a:solidFill>
                  <a:srgbClr val="23282D"/>
                </a:solidFill>
              </a:defRPr>
            </a:pPr>
            <a:r>
              <a:t>• Raw data alone does not clearly show which seasons perform better or why.</a:t>
            </a:r>
          </a:p>
          <a:p>
            <a:pPr>
              <a:spcAft>
                <a:spcPts val="900"/>
              </a:spcAft>
              <a:defRPr sz="1800">
                <a:solidFill>
                  <a:srgbClr val="23282D"/>
                </a:solidFill>
              </a:defRPr>
            </a:pPr>
            <a:r>
              <a:t>• This project compares seasonal yield, profit, water use and risk to identify useful patterns.</a:t>
            </a:r>
          </a:p>
        </p:txBody>
      </p:sp>
      <p:sp>
        <p:nvSpPr>
          <p:cNvPr id="20" name="Rounded Rectangle 19"/>
          <p:cNvSpPr/>
          <p:nvPr/>
        </p:nvSpPr>
        <p:spPr bwMode="auto">
          <a:xfrm>
            <a:off x="868680" y="4800600"/>
            <a:ext cx="3017519" cy="100584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21" name="TextBox 20"/>
          <p:cNvSpPr txBox="1"/>
          <p:nvPr/>
        </p:nvSpPr>
        <p:spPr bwMode="auto">
          <a:xfrm>
            <a:off x="990602" y="4764023"/>
            <a:ext cx="26883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500" b="1" dirty="0">
                <a:solidFill>
                  <a:srgbClr val="307852"/>
                </a:solidFill>
              </a:rPr>
              <a:t>Season × Performance</a:t>
            </a:r>
            <a:endParaRPr dirty="0"/>
          </a:p>
          <a:p>
            <a:pPr algn="ctr">
              <a:defRPr sz="1100">
                <a:solidFill>
                  <a:srgbClr val="5F696E"/>
                </a:solidFill>
              </a:defRPr>
            </a:pPr>
            <a:r>
              <a:rPr dirty="0"/>
              <a:t>Core focus</a:t>
            </a:r>
          </a:p>
        </p:txBody>
      </p:sp>
      <p:sp>
        <p:nvSpPr>
          <p:cNvPr id="22" name="Rounded Rectangle 21"/>
          <p:cNvSpPr/>
          <p:nvPr/>
        </p:nvSpPr>
        <p:spPr bwMode="auto">
          <a:xfrm>
            <a:off x="4526280" y="4800600"/>
            <a:ext cx="3017519" cy="100584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4690872" y="4919471"/>
            <a:ext cx="26883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500" b="1">
                <a:solidFill>
                  <a:srgbClr val="307852"/>
                </a:solidFill>
              </a:rPr>
              <a:t>Evidence-based</a:t>
            </a:r>
            <a:endParaRPr/>
          </a:p>
          <a:p>
            <a:pPr algn="ctr">
              <a:defRPr sz="1100">
                <a:solidFill>
                  <a:srgbClr val="5F696E"/>
                </a:solidFill>
              </a:defRPr>
            </a:pPr>
            <a:r>
              <a:t>Decision support</a:t>
            </a:r>
          </a:p>
        </p:txBody>
      </p:sp>
      <p:sp>
        <p:nvSpPr>
          <p:cNvPr id="24" name="Rounded Rectangle 23"/>
          <p:cNvSpPr/>
          <p:nvPr/>
        </p:nvSpPr>
        <p:spPr bwMode="auto">
          <a:xfrm>
            <a:off x="8183879" y="4800600"/>
            <a:ext cx="3017519" cy="100584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8348471" y="4919471"/>
            <a:ext cx="26883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500" b="1">
                <a:solidFill>
                  <a:srgbClr val="307852"/>
                </a:solidFill>
              </a:rPr>
              <a:t>Simple &amp; visual</a:t>
            </a:r>
            <a:endParaRPr/>
          </a:p>
          <a:p>
            <a:pPr algn="ctr">
              <a:defRPr sz="1100">
                <a:solidFill>
                  <a:srgbClr val="5F696E"/>
                </a:solidFill>
              </a:defRPr>
            </a:pPr>
            <a:r>
              <a:t>Communication</a:t>
            </a:r>
          </a:p>
        </p:txBody>
      </p:sp>
      <p:sp>
        <p:nvSpPr>
          <p:cNvPr id="26" name="Rectangle 25"/>
          <p:cNvSpPr/>
          <p:nvPr/>
        </p:nvSpPr>
        <p:spPr bwMode="auto">
          <a:xfrm>
            <a:off x="594360" y="6537960"/>
            <a:ext cx="10698480" cy="27432"/>
          </a:xfrm>
          <a:prstGeom prst="rect">
            <a:avLst/>
          </a:prstGeom>
          <a:solidFill>
            <a:srgbClr val="CE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10789920" y="658368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700" b="1">
                <a:solidFill>
                  <a:srgbClr val="183054"/>
                </a:solidFill>
              </a:rPr>
              <a:t>Project Description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200">
                <a:solidFill>
                  <a:srgbClr val="5F696E"/>
                </a:solidFill>
              </a:rPr>
              <a:t>From raw records to practical insights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777240" y="1371600"/>
            <a:ext cx="10424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</a:defRPr>
            </a:pPr>
            <a:r>
              <a:t>• Loaded and reviewed the agricultural Excel dataset using Python and pandas.</a:t>
            </a:r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</a:defRPr>
            </a:pPr>
            <a:r>
              <a:t>• Cleaned missing values, removed duplicate records and prepared numeric fields for analysis.</a:t>
            </a:r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</a:defRPr>
            </a:pPr>
            <a:r>
              <a:t>• Compared seasons, crops and irrigation methods using averages, group-by analysis, correlations and charts.</a:t>
            </a:r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</a:defRPr>
            </a:pPr>
            <a:r>
              <a:t>• Focused the final story on a few findings that are easy to understand and defend.</a:t>
            </a:r>
          </a:p>
        </p:txBody>
      </p:sp>
      <p:sp>
        <p:nvSpPr>
          <p:cNvPr id="13" name="Rounded Rectangle 12"/>
          <p:cNvSpPr/>
          <p:nvPr/>
        </p:nvSpPr>
        <p:spPr bwMode="auto">
          <a:xfrm>
            <a:off x="914400" y="5394960"/>
            <a:ext cx="2286000" cy="82296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1078992" y="5513832"/>
            <a:ext cx="195681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500" b="1">
                <a:solidFill>
                  <a:srgbClr val="307852"/>
                </a:solidFill>
              </a:rPr>
              <a:t>4,000</a:t>
            </a:r>
            <a:endParaRPr/>
          </a:p>
          <a:p>
            <a:pPr algn="ctr">
              <a:defRPr sz="1100">
                <a:solidFill>
                  <a:srgbClr val="5F696E"/>
                </a:solidFill>
              </a:defRPr>
            </a:pPr>
            <a:r>
              <a:t>Input rows</a:t>
            </a:r>
          </a:p>
        </p:txBody>
      </p:sp>
      <p:sp>
        <p:nvSpPr>
          <p:cNvPr id="15" name="Rounded Rectangle 14"/>
          <p:cNvSpPr/>
          <p:nvPr/>
        </p:nvSpPr>
        <p:spPr bwMode="auto">
          <a:xfrm>
            <a:off x="3657600" y="5394960"/>
            <a:ext cx="2286000" cy="82296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3822191" y="5513832"/>
            <a:ext cx="195681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500" b="1">
                <a:solidFill>
                  <a:srgbClr val="307852"/>
                </a:solidFill>
              </a:rPr>
              <a:t>3</a:t>
            </a:r>
            <a:endParaRPr/>
          </a:p>
          <a:p>
            <a:pPr algn="ctr">
              <a:defRPr sz="1100">
                <a:solidFill>
                  <a:srgbClr val="5F696E"/>
                </a:solidFill>
              </a:defRPr>
            </a:pPr>
            <a:r>
              <a:t>Seasons</a:t>
            </a:r>
          </a:p>
        </p:txBody>
      </p:sp>
      <p:sp>
        <p:nvSpPr>
          <p:cNvPr id="17" name="Rounded Rectangle 16"/>
          <p:cNvSpPr/>
          <p:nvPr/>
        </p:nvSpPr>
        <p:spPr bwMode="auto">
          <a:xfrm>
            <a:off x="6400800" y="5394960"/>
            <a:ext cx="2286000" cy="82296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6565392" y="5513832"/>
            <a:ext cx="195681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500" b="1">
                <a:solidFill>
                  <a:srgbClr val="307852"/>
                </a:solidFill>
              </a:rPr>
              <a:t>4</a:t>
            </a:r>
            <a:endParaRPr/>
          </a:p>
          <a:p>
            <a:pPr algn="ctr">
              <a:defRPr sz="1100">
                <a:solidFill>
                  <a:srgbClr val="5F696E"/>
                </a:solidFill>
              </a:defRPr>
            </a:pPr>
            <a:r>
              <a:t>Irrigation methods</a:t>
            </a:r>
          </a:p>
        </p:txBody>
      </p:sp>
      <p:sp>
        <p:nvSpPr>
          <p:cNvPr id="19" name="Rounded Rectangle 18"/>
          <p:cNvSpPr/>
          <p:nvPr/>
        </p:nvSpPr>
        <p:spPr bwMode="auto">
          <a:xfrm>
            <a:off x="9144000" y="5394960"/>
            <a:ext cx="2011680" cy="82296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9308592" y="5513832"/>
            <a:ext cx="168249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500" b="1">
                <a:solidFill>
                  <a:srgbClr val="307852"/>
                </a:solidFill>
              </a:rPr>
              <a:t>7</a:t>
            </a:r>
            <a:endParaRPr/>
          </a:p>
          <a:p>
            <a:pPr algn="ctr">
              <a:defRPr sz="1100">
                <a:solidFill>
                  <a:srgbClr val="5F696E"/>
                </a:solidFill>
              </a:defRPr>
            </a:pPr>
            <a:r>
              <a:t>Output tables/charts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594360" y="6537960"/>
            <a:ext cx="10698480" cy="27432"/>
          </a:xfrm>
          <a:prstGeom prst="rect">
            <a:avLst/>
          </a:prstGeom>
          <a:solidFill>
            <a:srgbClr val="CE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10789920" y="658368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 bwMode="auto"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700" b="1">
                <a:solidFill>
                  <a:srgbClr val="183054"/>
                </a:solidFill>
              </a:rPr>
              <a:t>Who Are the End Users?</a:t>
            </a: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200">
                <a:solidFill>
                  <a:srgbClr val="5F696E"/>
                </a:solidFill>
              </a:rPr>
              <a:t>People who can use the analysis for planning</a:t>
            </a:r>
            <a:endParaRPr/>
          </a:p>
        </p:txBody>
      </p:sp>
      <p:sp>
        <p:nvSpPr>
          <p:cNvPr id="19" name="Rounded Rectangle 18"/>
          <p:cNvSpPr/>
          <p:nvPr/>
        </p:nvSpPr>
        <p:spPr bwMode="auto">
          <a:xfrm>
            <a:off x="731520" y="1645920"/>
            <a:ext cx="2788920" cy="292608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914400" y="1874519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07852"/>
                </a:solidFill>
              </a:defRPr>
            </a:pPr>
            <a:r>
              <a:t>Farmers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787313" y="2560320"/>
            <a:ext cx="2677335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3282D"/>
                </a:solidFill>
              </a:defRPr>
            </a:pPr>
            <a:r>
              <a:rPr dirty="0"/>
              <a:t>Compare seasonal outcomes </a:t>
            </a:r>
            <a:endParaRPr lang="en-US" dirty="0"/>
          </a:p>
          <a:p>
            <a:pPr algn="ctr">
              <a:defRPr sz="1500">
                <a:solidFill>
                  <a:srgbClr val="23282D"/>
                </a:solidFill>
              </a:defRPr>
            </a:pPr>
            <a:r>
              <a:rPr dirty="0"/>
              <a:t>and </a:t>
            </a:r>
            <a:endParaRPr lang="en-US" dirty="0"/>
          </a:p>
          <a:p>
            <a:pPr algn="ctr">
              <a:defRPr sz="1500">
                <a:solidFill>
                  <a:srgbClr val="23282D"/>
                </a:solidFill>
              </a:defRPr>
            </a:pPr>
            <a:r>
              <a:rPr dirty="0"/>
              <a:t>resource use.</a:t>
            </a:r>
          </a:p>
        </p:txBody>
      </p:sp>
      <p:sp>
        <p:nvSpPr>
          <p:cNvPr id="22" name="Rounded Rectangle 21"/>
          <p:cNvSpPr/>
          <p:nvPr/>
        </p:nvSpPr>
        <p:spPr bwMode="auto">
          <a:xfrm>
            <a:off x="4069080" y="1645920"/>
            <a:ext cx="2788920" cy="292608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4251960" y="1874519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07852"/>
                </a:solidFill>
              </a:defRPr>
            </a:pPr>
            <a:r>
              <a:t>Agricultural planners</a:t>
            </a:r>
          </a:p>
        </p:txBody>
      </p:sp>
      <p:sp>
        <p:nvSpPr>
          <p:cNvPr id="24" name="TextBox 23"/>
          <p:cNvSpPr txBox="1"/>
          <p:nvPr/>
        </p:nvSpPr>
        <p:spPr bwMode="auto">
          <a:xfrm>
            <a:off x="4176168" y="2560320"/>
            <a:ext cx="257474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3282D"/>
                </a:solidFill>
              </a:defRPr>
            </a:pPr>
            <a:r>
              <a:rPr dirty="0"/>
              <a:t>Use seasonal patterns </a:t>
            </a:r>
            <a:endParaRPr lang="en-US" dirty="0"/>
          </a:p>
          <a:p>
            <a:pPr algn="ctr">
              <a:defRPr sz="1500">
                <a:solidFill>
                  <a:srgbClr val="23282D"/>
                </a:solidFill>
              </a:defRPr>
            </a:pPr>
            <a:r>
              <a:rPr dirty="0"/>
              <a:t>for planning and allocation.</a:t>
            </a:r>
          </a:p>
        </p:txBody>
      </p:sp>
      <p:sp>
        <p:nvSpPr>
          <p:cNvPr id="25" name="Rounded Rectangle 24"/>
          <p:cNvSpPr/>
          <p:nvPr/>
        </p:nvSpPr>
        <p:spPr bwMode="auto">
          <a:xfrm>
            <a:off x="7406640" y="1645920"/>
            <a:ext cx="2788920" cy="292608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7589519" y="1874519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07852"/>
                </a:solidFill>
              </a:defRPr>
            </a:pPr>
            <a:r>
              <a:t>Analysts / researchers</a:t>
            </a:r>
          </a:p>
        </p:txBody>
      </p:sp>
      <p:sp>
        <p:nvSpPr>
          <p:cNvPr id="27" name="TextBox 26"/>
          <p:cNvSpPr txBox="1"/>
          <p:nvPr/>
        </p:nvSpPr>
        <p:spPr bwMode="auto">
          <a:xfrm>
            <a:off x="7766201" y="2560320"/>
            <a:ext cx="206979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3282D"/>
                </a:solidFill>
              </a:defRPr>
            </a:pPr>
            <a:r>
              <a:rPr dirty="0"/>
              <a:t>Explore relationships </a:t>
            </a:r>
            <a:endParaRPr lang="en-US" dirty="0"/>
          </a:p>
          <a:p>
            <a:pPr algn="ctr">
              <a:defRPr sz="1500">
                <a:solidFill>
                  <a:srgbClr val="23282D"/>
                </a:solidFill>
              </a:defRPr>
            </a:pPr>
            <a:r>
              <a:rPr dirty="0"/>
              <a:t>and unusual patterns.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594360" y="6537960"/>
            <a:ext cx="10698480" cy="27432"/>
          </a:xfrm>
          <a:prstGeom prst="rect">
            <a:avLst/>
          </a:prstGeom>
          <a:solidFill>
            <a:srgbClr val="CE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10789920" y="658368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 bwMode="auto"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700" b="1">
                <a:solidFill>
                  <a:srgbClr val="183054"/>
                </a:solidFill>
              </a:rPr>
              <a:t>Technology Used</a:t>
            </a: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200">
                <a:solidFill>
                  <a:srgbClr val="5F696E"/>
                </a:solidFill>
              </a:rPr>
              <a:t>Simple tools suitable for a reproducible analytics workflow</a:t>
            </a:r>
            <a:endParaRPr/>
          </a:p>
        </p:txBody>
      </p:sp>
      <p:sp>
        <p:nvSpPr>
          <p:cNvPr id="19" name="Rounded Rectangle 18"/>
          <p:cNvSpPr/>
          <p:nvPr/>
        </p:nvSpPr>
        <p:spPr bwMode="auto">
          <a:xfrm>
            <a:off x="777240" y="1508759"/>
            <a:ext cx="3154680" cy="132588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960120" y="1691639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83054"/>
                </a:solidFill>
              </a:defRPr>
            </a:pPr>
            <a:r>
              <a:t>Python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1005840" y="2176272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96E"/>
                </a:solidFill>
              </a:defRPr>
            </a:pPr>
            <a:r>
              <a:rPr dirty="0"/>
              <a:t>Analysis &amp; automation</a:t>
            </a:r>
          </a:p>
        </p:txBody>
      </p:sp>
      <p:sp>
        <p:nvSpPr>
          <p:cNvPr id="22" name="Rounded Rectangle 21"/>
          <p:cNvSpPr/>
          <p:nvPr/>
        </p:nvSpPr>
        <p:spPr bwMode="auto">
          <a:xfrm>
            <a:off x="4480559" y="1508759"/>
            <a:ext cx="3154680" cy="132588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4663440" y="1691639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83054"/>
                </a:solidFill>
              </a:defRPr>
            </a:pPr>
            <a:r>
              <a:t>Pandas</a:t>
            </a:r>
          </a:p>
        </p:txBody>
      </p:sp>
      <p:sp>
        <p:nvSpPr>
          <p:cNvPr id="24" name="TextBox 23"/>
          <p:cNvSpPr txBox="1"/>
          <p:nvPr/>
        </p:nvSpPr>
        <p:spPr bwMode="auto">
          <a:xfrm>
            <a:off x="4709159" y="2176272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96E"/>
                </a:solidFill>
              </a:defRPr>
            </a:pPr>
            <a:r>
              <a:t>Data loading and grouping</a:t>
            </a:r>
          </a:p>
        </p:txBody>
      </p:sp>
      <p:sp>
        <p:nvSpPr>
          <p:cNvPr id="25" name="Rounded Rectangle 24"/>
          <p:cNvSpPr/>
          <p:nvPr/>
        </p:nvSpPr>
        <p:spPr bwMode="auto">
          <a:xfrm>
            <a:off x="8183879" y="1508759"/>
            <a:ext cx="3154680" cy="132588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8366759" y="1691639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83054"/>
                </a:solidFill>
              </a:defRPr>
            </a:pPr>
            <a:r>
              <a:t>NumPy</a:t>
            </a:r>
          </a:p>
        </p:txBody>
      </p:sp>
      <p:sp>
        <p:nvSpPr>
          <p:cNvPr id="27" name="TextBox 26"/>
          <p:cNvSpPr txBox="1"/>
          <p:nvPr/>
        </p:nvSpPr>
        <p:spPr bwMode="auto">
          <a:xfrm>
            <a:off x="8412480" y="2176272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96E"/>
                </a:solidFill>
              </a:defRPr>
            </a:pPr>
            <a:r>
              <a:t>Numeric calculations</a:t>
            </a:r>
          </a:p>
        </p:txBody>
      </p:sp>
      <p:sp>
        <p:nvSpPr>
          <p:cNvPr id="28" name="Rounded Rectangle 27"/>
          <p:cNvSpPr/>
          <p:nvPr/>
        </p:nvSpPr>
        <p:spPr bwMode="auto">
          <a:xfrm>
            <a:off x="777240" y="3429000"/>
            <a:ext cx="3154680" cy="132588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960120" y="36118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83054"/>
                </a:solidFill>
              </a:defRPr>
            </a:pPr>
            <a:r>
              <a:t>Matplotlib</a:t>
            </a:r>
          </a:p>
        </p:txBody>
      </p:sp>
      <p:sp>
        <p:nvSpPr>
          <p:cNvPr id="30" name="TextBox 29"/>
          <p:cNvSpPr txBox="1"/>
          <p:nvPr/>
        </p:nvSpPr>
        <p:spPr bwMode="auto">
          <a:xfrm>
            <a:off x="1005840" y="4096512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96E"/>
                </a:solidFill>
              </a:defRPr>
            </a:pPr>
            <a:r>
              <a:t>Charts and visuals</a:t>
            </a:r>
          </a:p>
        </p:txBody>
      </p:sp>
      <p:sp>
        <p:nvSpPr>
          <p:cNvPr id="31" name="Rounded Rectangle 30"/>
          <p:cNvSpPr/>
          <p:nvPr/>
        </p:nvSpPr>
        <p:spPr bwMode="auto">
          <a:xfrm>
            <a:off x="4480559" y="3429000"/>
            <a:ext cx="3154680" cy="132588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TextBox 31"/>
          <p:cNvSpPr txBox="1"/>
          <p:nvPr/>
        </p:nvSpPr>
        <p:spPr bwMode="auto">
          <a:xfrm>
            <a:off x="4663440" y="36118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83054"/>
                </a:solidFill>
              </a:defRPr>
            </a:pPr>
            <a:r>
              <a:t>Excel</a:t>
            </a:r>
          </a:p>
        </p:txBody>
      </p:sp>
      <p:sp>
        <p:nvSpPr>
          <p:cNvPr id="33" name="TextBox 32"/>
          <p:cNvSpPr txBox="1"/>
          <p:nvPr/>
        </p:nvSpPr>
        <p:spPr bwMode="auto">
          <a:xfrm>
            <a:off x="4709159" y="4096512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96E"/>
                </a:solidFill>
              </a:defRPr>
            </a:pPr>
            <a:r>
              <a:t>Source dataset</a:t>
            </a:r>
          </a:p>
        </p:txBody>
      </p:sp>
      <p:sp>
        <p:nvSpPr>
          <p:cNvPr id="34" name="Rounded Rectangle 33"/>
          <p:cNvSpPr/>
          <p:nvPr/>
        </p:nvSpPr>
        <p:spPr bwMode="auto">
          <a:xfrm>
            <a:off x="8183879" y="3429000"/>
            <a:ext cx="3154680" cy="132588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TextBox 34"/>
          <p:cNvSpPr txBox="1"/>
          <p:nvPr/>
        </p:nvSpPr>
        <p:spPr bwMode="auto">
          <a:xfrm>
            <a:off x="8366759" y="36118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83054"/>
                </a:solidFill>
              </a:defRPr>
            </a:pPr>
            <a:r>
              <a:t>Jupyter / script</a:t>
            </a:r>
          </a:p>
        </p:txBody>
      </p:sp>
      <p:sp>
        <p:nvSpPr>
          <p:cNvPr id="36" name="TextBox 35"/>
          <p:cNvSpPr txBox="1"/>
          <p:nvPr/>
        </p:nvSpPr>
        <p:spPr bwMode="auto">
          <a:xfrm>
            <a:off x="8412480" y="4096512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F696E"/>
                </a:solidFill>
              </a:defRPr>
            </a:pPr>
            <a:r>
              <a:t>Reproducible workflow</a:t>
            </a:r>
          </a:p>
        </p:txBody>
      </p:sp>
      <p:sp>
        <p:nvSpPr>
          <p:cNvPr id="37" name="Rectangle 36"/>
          <p:cNvSpPr/>
          <p:nvPr/>
        </p:nvSpPr>
        <p:spPr bwMode="auto">
          <a:xfrm>
            <a:off x="594360" y="6537960"/>
            <a:ext cx="10698480" cy="27432"/>
          </a:xfrm>
          <a:prstGeom prst="rect">
            <a:avLst/>
          </a:prstGeom>
          <a:solidFill>
            <a:srgbClr val="CE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TextBox 37"/>
          <p:cNvSpPr txBox="1"/>
          <p:nvPr/>
        </p:nvSpPr>
        <p:spPr bwMode="auto">
          <a:xfrm>
            <a:off x="10789920" y="658368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 bwMode="auto"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700" b="1">
                <a:solidFill>
                  <a:srgbClr val="183054"/>
                </a:solidFill>
              </a:rPr>
              <a:t>Results</a:t>
            </a: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200">
                <a:solidFill>
                  <a:srgbClr val="5F696E"/>
                </a:solidFill>
              </a:rPr>
              <a:t>Seasonal performance at a glance</a:t>
            </a:r>
            <a:endParaRPr/>
          </a:p>
        </p:txBody>
      </p:sp>
      <p:pic>
        <p:nvPicPr>
          <p:cNvPr id="26" name="Picture 25" descr="yield_by_season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85800" y="1417320"/>
            <a:ext cx="5257800" cy="3657600"/>
          </a:xfrm>
          <a:prstGeom prst="rect">
            <a:avLst/>
          </a:prstGeom>
        </p:spPr>
      </p:pic>
      <p:pic>
        <p:nvPicPr>
          <p:cNvPr id="27" name="Picture 26" descr="profit_by_season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263640" y="1417320"/>
            <a:ext cx="5257800" cy="36576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 bwMode="auto">
          <a:xfrm>
            <a:off x="914400" y="5303520"/>
            <a:ext cx="2926080" cy="91440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1078992" y="5422392"/>
            <a:ext cx="25968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500" b="1">
                <a:solidFill>
                  <a:srgbClr val="307852"/>
                </a:solidFill>
              </a:rPr>
              <a:t>Kharif</a:t>
            </a:r>
            <a:endParaRPr/>
          </a:p>
          <a:p>
            <a:pPr algn="ctr">
              <a:defRPr sz="1100">
                <a:solidFill>
                  <a:srgbClr val="5F696E"/>
                </a:solidFill>
              </a:defRPr>
            </a:pPr>
            <a:r>
              <a:t>Highest average yield: 5.64 t/ha</a:t>
            </a:r>
          </a:p>
        </p:txBody>
      </p:sp>
      <p:sp>
        <p:nvSpPr>
          <p:cNvPr id="30" name="Rounded Rectangle 29"/>
          <p:cNvSpPr/>
          <p:nvPr/>
        </p:nvSpPr>
        <p:spPr bwMode="auto">
          <a:xfrm>
            <a:off x="4617720" y="5303520"/>
            <a:ext cx="2926080" cy="91440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TextBox 30"/>
          <p:cNvSpPr txBox="1"/>
          <p:nvPr/>
        </p:nvSpPr>
        <p:spPr bwMode="auto">
          <a:xfrm>
            <a:off x="4782312" y="5422392"/>
            <a:ext cx="25968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500" b="1">
                <a:solidFill>
                  <a:srgbClr val="307852"/>
                </a:solidFill>
              </a:rPr>
              <a:t>Kharif</a:t>
            </a:r>
            <a:endParaRPr/>
          </a:p>
          <a:p>
            <a:pPr algn="ctr">
              <a:defRPr sz="1100">
                <a:solidFill>
                  <a:srgbClr val="5F696E"/>
                </a:solidFill>
              </a:defRPr>
            </a:pPr>
            <a:r>
              <a:t>Highest average profit: ₹179,367</a:t>
            </a:r>
          </a:p>
        </p:txBody>
      </p:sp>
      <p:sp>
        <p:nvSpPr>
          <p:cNvPr id="32" name="Rounded Rectangle 31"/>
          <p:cNvSpPr/>
          <p:nvPr/>
        </p:nvSpPr>
        <p:spPr bwMode="auto">
          <a:xfrm>
            <a:off x="8321039" y="5303520"/>
            <a:ext cx="2926080" cy="91440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TextBox 32"/>
          <p:cNvSpPr txBox="1"/>
          <p:nvPr/>
        </p:nvSpPr>
        <p:spPr bwMode="auto">
          <a:xfrm>
            <a:off x="8485632" y="5422392"/>
            <a:ext cx="25968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500" b="1">
                <a:solidFill>
                  <a:srgbClr val="307852"/>
                </a:solidFill>
              </a:rPr>
              <a:t>Zaid</a:t>
            </a:r>
            <a:endParaRPr/>
          </a:p>
          <a:p>
            <a:pPr algn="ctr">
              <a:defRPr sz="1100">
                <a:solidFill>
                  <a:srgbClr val="5F696E"/>
                </a:solidFill>
              </a:defRPr>
            </a:pPr>
            <a:r>
              <a:t>Lowest average profit: -₹26,592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594360" y="6537960"/>
            <a:ext cx="10698480" cy="27432"/>
          </a:xfrm>
          <a:prstGeom prst="rect">
            <a:avLst/>
          </a:prstGeom>
          <a:solidFill>
            <a:srgbClr val="CE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TextBox 34"/>
          <p:cNvSpPr txBox="1"/>
          <p:nvPr/>
        </p:nvSpPr>
        <p:spPr bwMode="auto">
          <a:xfrm>
            <a:off x="10789920" y="658368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 bwMode="auto"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700" b="1">
                <a:solidFill>
                  <a:srgbClr val="183054"/>
                </a:solidFill>
              </a:rPr>
              <a:t>Results</a:t>
            </a:r>
            <a:endParaRPr/>
          </a:p>
        </p:txBody>
      </p:sp>
      <p:sp>
        <p:nvSpPr>
          <p:cNvPr id="32" name="TextBox 31"/>
          <p:cNvSpPr txBox="1"/>
          <p:nvPr/>
        </p:nvSpPr>
        <p:spPr bwMode="auto"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200">
                <a:solidFill>
                  <a:srgbClr val="5F696E"/>
                </a:solidFill>
              </a:rPr>
              <a:t>Question 1: How does performance vary across seasons?</a:t>
            </a:r>
            <a:endParaRPr/>
          </a:p>
        </p:txBody>
      </p:sp>
      <p:sp>
        <p:nvSpPr>
          <p:cNvPr id="33" name="TextBox 32"/>
          <p:cNvSpPr txBox="1"/>
          <p:nvPr/>
        </p:nvSpPr>
        <p:spPr bwMode="auto">
          <a:xfrm>
            <a:off x="777240" y="128016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</a:defRPr>
            </a:pPr>
            <a:r>
              <a:t>• Kharif has the strongest overall average performance: 5.64 t/ha yield and ₹179,367 profit.</a:t>
            </a:r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</a:defRPr>
            </a:pPr>
            <a:r>
              <a:t>• Rabi is in the middle at 5.08 t/ha and ₹88,197 average profit.</a:t>
            </a:r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</a:defRPr>
            </a:pPr>
            <a:r>
              <a:t>• Zaid has the lowest average yield (4.67 t/ha) and negative average profit (-₹26,592).</a:t>
            </a:r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</a:defRPr>
            </a:pPr>
            <a:r>
              <a:t>• The profitability rate is 57.7% in Kharif, 48.7% in Rabi and 35.5% in Zaid.</a:t>
            </a:r>
          </a:p>
        </p:txBody>
      </p:sp>
      <p:sp>
        <p:nvSpPr>
          <p:cNvPr id="34" name="Rounded Rectangle 33"/>
          <p:cNvSpPr/>
          <p:nvPr/>
        </p:nvSpPr>
        <p:spPr bwMode="auto">
          <a:xfrm>
            <a:off x="914400" y="5303520"/>
            <a:ext cx="2926080" cy="82296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TextBox 34"/>
          <p:cNvSpPr txBox="1"/>
          <p:nvPr/>
        </p:nvSpPr>
        <p:spPr bwMode="auto">
          <a:xfrm>
            <a:off x="1078992" y="5422392"/>
            <a:ext cx="259689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500" b="1">
                <a:solidFill>
                  <a:srgbClr val="307852"/>
                </a:solidFill>
              </a:rPr>
              <a:t>5.64 t/ha</a:t>
            </a:r>
            <a:endParaRPr/>
          </a:p>
          <a:p>
            <a:pPr algn="ctr">
              <a:defRPr sz="1100">
                <a:solidFill>
                  <a:srgbClr val="5F696E"/>
                </a:solidFill>
              </a:defRPr>
            </a:pPr>
            <a:r>
              <a:t>Kharif yield</a:t>
            </a:r>
          </a:p>
        </p:txBody>
      </p:sp>
      <p:sp>
        <p:nvSpPr>
          <p:cNvPr id="36" name="Rounded Rectangle 35"/>
          <p:cNvSpPr/>
          <p:nvPr/>
        </p:nvSpPr>
        <p:spPr bwMode="auto">
          <a:xfrm>
            <a:off x="4617720" y="5303520"/>
            <a:ext cx="2926080" cy="82296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TextBox 36"/>
          <p:cNvSpPr txBox="1"/>
          <p:nvPr/>
        </p:nvSpPr>
        <p:spPr bwMode="auto">
          <a:xfrm>
            <a:off x="4782312" y="5422392"/>
            <a:ext cx="259689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500" b="1">
                <a:solidFill>
                  <a:srgbClr val="307852"/>
                </a:solidFill>
              </a:rPr>
              <a:t>₹179k</a:t>
            </a:r>
            <a:endParaRPr/>
          </a:p>
          <a:p>
            <a:pPr algn="ctr">
              <a:defRPr sz="1100">
                <a:solidFill>
                  <a:srgbClr val="5F696E"/>
                </a:solidFill>
              </a:defRPr>
            </a:pPr>
            <a:r>
              <a:t>Kharif profit</a:t>
            </a:r>
          </a:p>
        </p:txBody>
      </p:sp>
      <p:sp>
        <p:nvSpPr>
          <p:cNvPr id="38" name="Rounded Rectangle 37"/>
          <p:cNvSpPr/>
          <p:nvPr/>
        </p:nvSpPr>
        <p:spPr bwMode="auto">
          <a:xfrm>
            <a:off x="8321039" y="5303520"/>
            <a:ext cx="2926080" cy="82296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TextBox 38"/>
          <p:cNvSpPr txBox="1"/>
          <p:nvPr/>
        </p:nvSpPr>
        <p:spPr bwMode="auto">
          <a:xfrm>
            <a:off x="8485632" y="5422392"/>
            <a:ext cx="259689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500" b="1">
                <a:solidFill>
                  <a:srgbClr val="307852"/>
                </a:solidFill>
              </a:rPr>
              <a:t>35.5%</a:t>
            </a:r>
            <a:endParaRPr/>
          </a:p>
          <a:p>
            <a:pPr algn="ctr">
              <a:defRPr sz="1100">
                <a:solidFill>
                  <a:srgbClr val="5F696E"/>
                </a:solidFill>
              </a:defRPr>
            </a:pPr>
            <a:r>
              <a:t>Zaid profitable farms</a:t>
            </a:r>
          </a:p>
        </p:txBody>
      </p:sp>
      <p:sp>
        <p:nvSpPr>
          <p:cNvPr id="40" name="Rectangle 39"/>
          <p:cNvSpPr/>
          <p:nvPr/>
        </p:nvSpPr>
        <p:spPr bwMode="auto">
          <a:xfrm>
            <a:off x="594360" y="6537960"/>
            <a:ext cx="10698480" cy="27432"/>
          </a:xfrm>
          <a:prstGeom prst="rect">
            <a:avLst/>
          </a:prstGeom>
          <a:solidFill>
            <a:srgbClr val="CE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TextBox 40"/>
          <p:cNvSpPr txBox="1"/>
          <p:nvPr/>
        </p:nvSpPr>
        <p:spPr bwMode="auto">
          <a:xfrm>
            <a:off x="10789920" y="658368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 bwMode="auto"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700" b="1">
                <a:solidFill>
                  <a:srgbClr val="183054"/>
                </a:solidFill>
              </a:rPr>
              <a:t>Results</a:t>
            </a:r>
            <a:endParaRPr/>
          </a:p>
        </p:txBody>
      </p:sp>
      <p:sp>
        <p:nvSpPr>
          <p:cNvPr id="32" name="TextBox 31"/>
          <p:cNvSpPr txBox="1"/>
          <p:nvPr/>
        </p:nvSpPr>
        <p:spPr bwMode="auto"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200">
                <a:solidFill>
                  <a:srgbClr val="5F696E"/>
                </a:solidFill>
              </a:rPr>
              <a:t>Question 2: What major seasonal patterns can be observed?</a:t>
            </a:r>
            <a:endParaRPr/>
          </a:p>
        </p:txBody>
      </p:sp>
      <p:sp>
        <p:nvSpPr>
          <p:cNvPr id="33" name="TextBox 32"/>
          <p:cNvSpPr txBox="1"/>
          <p:nvPr/>
        </p:nvSpPr>
        <p:spPr bwMode="auto">
          <a:xfrm>
            <a:off x="777240" y="123444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82D"/>
                </a:solidFill>
              </a:defRPr>
            </a:pPr>
            <a:r>
              <a:t>• Higher seasonal performance is concentrated in Kharif across the main outcome measures.</a:t>
            </a:r>
          </a:p>
          <a:p>
            <a:pPr>
              <a:spcAft>
                <a:spcPts val="900"/>
              </a:spcAft>
              <a:defRPr sz="1500">
                <a:solidFill>
                  <a:srgbClr val="23282D"/>
                </a:solidFill>
              </a:defRPr>
            </a:pPr>
            <a:r>
              <a:t>• Water efficiency is highest in Kharif (5.91) and lowest in Zaid (4.44).</a:t>
            </a:r>
          </a:p>
          <a:p>
            <a:pPr>
              <a:spcAft>
                <a:spcPts val="900"/>
              </a:spcAft>
              <a:defRPr sz="1500">
                <a:solidFill>
                  <a:srgbClr val="23282D"/>
                </a:solidFill>
              </a:defRPr>
            </a:pPr>
            <a:r>
              <a:t>• Disease/pest risk is highest in Kharif (54.47%) and lower in Rabi (40.52%) and Zaid (38.22%).</a:t>
            </a:r>
          </a:p>
          <a:p>
            <a:pPr>
              <a:spcAft>
                <a:spcPts val="900"/>
              </a:spcAft>
              <a:defRPr sz="1500">
                <a:solidFill>
                  <a:srgbClr val="23282D"/>
                </a:solidFill>
              </a:defRPr>
            </a:pPr>
            <a:r>
              <a:t>• This shows that stronger output can come with higher environmental risk, so yield should not be viewed alone.</a:t>
            </a:r>
          </a:p>
        </p:txBody>
      </p:sp>
      <p:pic>
        <p:nvPicPr>
          <p:cNvPr id="34" name="Picture 33" descr="water_efficiency_irrigation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315200" y="1417320"/>
            <a:ext cx="4297680" cy="338328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 bwMode="auto">
          <a:xfrm>
            <a:off x="594360" y="6537960"/>
            <a:ext cx="10698480" cy="27432"/>
          </a:xfrm>
          <a:prstGeom prst="rect">
            <a:avLst/>
          </a:prstGeom>
          <a:solidFill>
            <a:srgbClr val="CE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TextBox 35"/>
          <p:cNvSpPr txBox="1"/>
          <p:nvPr/>
        </p:nvSpPr>
        <p:spPr bwMode="auto">
          <a:xfrm>
            <a:off x="10789920" y="658368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E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 bwMode="auto"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700" b="1">
                <a:solidFill>
                  <a:srgbClr val="183054"/>
                </a:solidFill>
              </a:rPr>
              <a:t>Results</a:t>
            </a:r>
            <a:endParaRPr/>
          </a:p>
        </p:txBody>
      </p:sp>
      <p:sp>
        <p:nvSpPr>
          <p:cNvPr id="32" name="TextBox 31"/>
          <p:cNvSpPr txBox="1"/>
          <p:nvPr/>
        </p:nvSpPr>
        <p:spPr bwMode="auto"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200">
                <a:solidFill>
                  <a:srgbClr val="5F696E"/>
                </a:solidFill>
              </a:rPr>
              <a:t>Question 3: Which characteristics change between seasons?</a:t>
            </a:r>
            <a:endParaRPr/>
          </a:p>
        </p:txBody>
      </p:sp>
      <p:sp>
        <p:nvSpPr>
          <p:cNvPr id="33" name="TextBox 32"/>
          <p:cNvSpPr txBox="1"/>
          <p:nvPr/>
        </p:nvSpPr>
        <p:spPr bwMode="auto">
          <a:xfrm>
            <a:off x="868680" y="13258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4"/>
                </a:solidFill>
              </a:defRPr>
            </a:pPr>
            <a:r>
              <a:t>Average yield</a:t>
            </a:r>
          </a:p>
        </p:txBody>
      </p:sp>
      <p:sp>
        <p:nvSpPr>
          <p:cNvPr id="34" name="Rounded Rectangle 33"/>
          <p:cNvSpPr/>
          <p:nvPr/>
        </p:nvSpPr>
        <p:spPr bwMode="auto">
          <a:xfrm>
            <a:off x="3017519" y="1280160"/>
            <a:ext cx="8046720" cy="658368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TextBox 34"/>
          <p:cNvSpPr txBox="1"/>
          <p:nvPr/>
        </p:nvSpPr>
        <p:spPr bwMode="auto">
          <a:xfrm>
            <a:off x="3246120" y="1371600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82D"/>
                </a:solidFill>
              </a:defRPr>
            </a:pPr>
            <a:r>
              <a:t>Kharif 5.64 • Rabi 5.08 • Zaid 4.67 t/ha</a:t>
            </a:r>
          </a:p>
        </p:txBody>
      </p:sp>
      <p:sp>
        <p:nvSpPr>
          <p:cNvPr id="36" name="TextBox 35"/>
          <p:cNvSpPr txBox="1"/>
          <p:nvPr/>
        </p:nvSpPr>
        <p:spPr bwMode="auto">
          <a:xfrm>
            <a:off x="868680" y="24231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4"/>
                </a:solidFill>
              </a:defRPr>
            </a:pPr>
            <a:r>
              <a:t>Average profit</a:t>
            </a:r>
          </a:p>
        </p:txBody>
      </p:sp>
      <p:sp>
        <p:nvSpPr>
          <p:cNvPr id="37" name="Rounded Rectangle 36"/>
          <p:cNvSpPr/>
          <p:nvPr/>
        </p:nvSpPr>
        <p:spPr bwMode="auto">
          <a:xfrm>
            <a:off x="3017519" y="2377440"/>
            <a:ext cx="8046720" cy="658368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TextBox 37"/>
          <p:cNvSpPr txBox="1"/>
          <p:nvPr/>
        </p:nvSpPr>
        <p:spPr bwMode="auto">
          <a:xfrm>
            <a:off x="3246120" y="2468879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82D"/>
                </a:solidFill>
              </a:defRPr>
            </a:pPr>
            <a:r>
              <a:t>₹179k • ₹88k • -₹27k</a:t>
            </a:r>
          </a:p>
        </p:txBody>
      </p:sp>
      <p:sp>
        <p:nvSpPr>
          <p:cNvPr id="39" name="TextBox 38"/>
          <p:cNvSpPr txBox="1"/>
          <p:nvPr/>
        </p:nvSpPr>
        <p:spPr bwMode="auto">
          <a:xfrm>
            <a:off x="868680" y="3520439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4"/>
                </a:solidFill>
              </a:defRPr>
            </a:pPr>
            <a:r>
              <a:t>Water efficiency</a:t>
            </a:r>
          </a:p>
        </p:txBody>
      </p:sp>
      <p:sp>
        <p:nvSpPr>
          <p:cNvPr id="40" name="Rounded Rectangle 39"/>
          <p:cNvSpPr/>
          <p:nvPr/>
        </p:nvSpPr>
        <p:spPr bwMode="auto">
          <a:xfrm>
            <a:off x="3017519" y="3474720"/>
            <a:ext cx="8046720" cy="658368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TextBox 40"/>
          <p:cNvSpPr txBox="1"/>
          <p:nvPr/>
        </p:nvSpPr>
        <p:spPr bwMode="auto">
          <a:xfrm>
            <a:off x="3246120" y="3566159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82D"/>
                </a:solidFill>
              </a:defRPr>
            </a:pPr>
            <a:r>
              <a:t>5.91 • 5.18 • 4.44</a:t>
            </a:r>
          </a:p>
        </p:txBody>
      </p:sp>
      <p:sp>
        <p:nvSpPr>
          <p:cNvPr id="42" name="TextBox 41"/>
          <p:cNvSpPr txBox="1"/>
          <p:nvPr/>
        </p:nvSpPr>
        <p:spPr bwMode="auto">
          <a:xfrm>
            <a:off x="868680" y="461772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4"/>
                </a:solidFill>
              </a:defRPr>
            </a:pPr>
            <a:r>
              <a:t>Pest risk</a:t>
            </a:r>
          </a:p>
        </p:txBody>
      </p:sp>
      <p:sp>
        <p:nvSpPr>
          <p:cNvPr id="43" name="Rounded Rectangle 42"/>
          <p:cNvSpPr/>
          <p:nvPr/>
        </p:nvSpPr>
        <p:spPr bwMode="auto">
          <a:xfrm>
            <a:off x="3017519" y="4572000"/>
            <a:ext cx="8046720" cy="658368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TextBox 43"/>
          <p:cNvSpPr txBox="1"/>
          <p:nvPr/>
        </p:nvSpPr>
        <p:spPr bwMode="auto">
          <a:xfrm>
            <a:off x="3246120" y="4663440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82D"/>
                </a:solidFill>
              </a:defRPr>
            </a:pPr>
            <a:r>
              <a:t>54.47% • 40.52% • 38.22%</a:t>
            </a:r>
          </a:p>
        </p:txBody>
      </p:sp>
      <p:sp>
        <p:nvSpPr>
          <p:cNvPr id="45" name="Rectangle 44"/>
          <p:cNvSpPr/>
          <p:nvPr/>
        </p:nvSpPr>
        <p:spPr bwMode="auto">
          <a:xfrm>
            <a:off x="594360" y="6537960"/>
            <a:ext cx="10698480" cy="27432"/>
          </a:xfrm>
          <a:prstGeom prst="rect">
            <a:avLst/>
          </a:prstGeom>
          <a:solidFill>
            <a:srgbClr val="CE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TextBox 45"/>
          <p:cNvSpPr txBox="1"/>
          <p:nvPr/>
        </p:nvSpPr>
        <p:spPr bwMode="auto">
          <a:xfrm>
            <a:off x="10789920" y="658368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E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 bwMode="auto"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700" b="1">
                <a:solidFill>
                  <a:srgbClr val="183054"/>
                </a:solidFill>
              </a:rPr>
              <a:t>Results</a:t>
            </a:r>
            <a:endParaRPr/>
          </a:p>
        </p:txBody>
      </p:sp>
      <p:sp>
        <p:nvSpPr>
          <p:cNvPr id="32" name="TextBox 31"/>
          <p:cNvSpPr txBox="1"/>
          <p:nvPr/>
        </p:nvSpPr>
        <p:spPr bwMode="auto"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200">
                <a:solidFill>
                  <a:srgbClr val="5F696E"/>
                </a:solidFill>
              </a:rPr>
              <a:t>Questions 4–5: Which groups matter, and what relationships stand out?</a:t>
            </a:r>
            <a:endParaRPr/>
          </a:p>
        </p:txBody>
      </p:sp>
      <p:sp>
        <p:nvSpPr>
          <p:cNvPr id="33" name="TextBox 32"/>
          <p:cNvSpPr txBox="1"/>
          <p:nvPr/>
        </p:nvSpPr>
        <p:spPr bwMode="auto">
          <a:xfrm>
            <a:off x="731520" y="123444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82D"/>
                </a:solidFill>
              </a:defRPr>
            </a:pPr>
            <a:r>
              <a:t>• Sugarcane has the highest average yield (46.94 t/ha) and the highest average profit (₹817,245) among crops.</a:t>
            </a:r>
          </a:p>
          <a:p>
            <a:pPr>
              <a:spcAft>
                <a:spcPts val="900"/>
              </a:spcAft>
              <a:defRPr sz="1500">
                <a:solidFill>
                  <a:srgbClr val="23282D"/>
                </a:solidFill>
              </a:defRPr>
            </a:pPr>
            <a:r>
              <a:t>• Drip irrigation has higher average yield (6.62 t/ha) than flood, sprinkler and rainfed methods.</a:t>
            </a:r>
          </a:p>
          <a:p>
            <a:pPr>
              <a:spcAft>
                <a:spcPts val="900"/>
              </a:spcAft>
              <a:defRPr sz="1500">
                <a:solidFill>
                  <a:srgbClr val="23282D"/>
                </a:solidFill>
              </a:defRPr>
            </a:pPr>
            <a:r>
              <a:t>• Flood irrigation uses the most water on average (8,029 m³) and has the lowest water efficiency (3.46).</a:t>
            </a:r>
          </a:p>
          <a:p>
            <a:pPr>
              <a:spcAft>
                <a:spcPts val="900"/>
              </a:spcAft>
              <a:defRPr sz="1500">
                <a:solidFill>
                  <a:srgbClr val="23282D"/>
                </a:solidFill>
              </a:defRPr>
            </a:pPr>
            <a:r>
              <a:t>• Yield has a strong positive relationship with water-efficiency measure (correlation ≈ 0.915). Profit is moderately related to yield (≈ 0.490).</a:t>
            </a:r>
          </a:p>
        </p:txBody>
      </p:sp>
      <p:sp>
        <p:nvSpPr>
          <p:cNvPr id="34" name="Rounded Rectangle 33"/>
          <p:cNvSpPr/>
          <p:nvPr/>
        </p:nvSpPr>
        <p:spPr bwMode="auto">
          <a:xfrm>
            <a:off x="914400" y="5486400"/>
            <a:ext cx="2834640" cy="77724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TextBox 34"/>
          <p:cNvSpPr txBox="1"/>
          <p:nvPr/>
        </p:nvSpPr>
        <p:spPr bwMode="auto">
          <a:xfrm>
            <a:off x="1078992" y="5605272"/>
            <a:ext cx="250545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500" b="1">
                <a:solidFill>
                  <a:srgbClr val="307852"/>
                </a:solidFill>
              </a:rPr>
              <a:t>46.94 t/ha</a:t>
            </a:r>
            <a:endParaRPr/>
          </a:p>
          <a:p>
            <a:pPr algn="ctr">
              <a:defRPr sz="1100">
                <a:solidFill>
                  <a:srgbClr val="5F696E"/>
                </a:solidFill>
              </a:defRPr>
            </a:pPr>
            <a:r>
              <a:t>Sugarcane avg. yield</a:t>
            </a:r>
          </a:p>
        </p:txBody>
      </p:sp>
      <p:sp>
        <p:nvSpPr>
          <p:cNvPr id="36" name="Rounded Rectangle 35"/>
          <p:cNvSpPr/>
          <p:nvPr/>
        </p:nvSpPr>
        <p:spPr bwMode="auto">
          <a:xfrm>
            <a:off x="4572000" y="5486400"/>
            <a:ext cx="2834640" cy="77724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TextBox 36"/>
          <p:cNvSpPr txBox="1"/>
          <p:nvPr/>
        </p:nvSpPr>
        <p:spPr bwMode="auto">
          <a:xfrm>
            <a:off x="4736592" y="5605272"/>
            <a:ext cx="250545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500" b="1">
                <a:solidFill>
                  <a:srgbClr val="307852"/>
                </a:solidFill>
              </a:rPr>
              <a:t>₹817k</a:t>
            </a:r>
            <a:endParaRPr/>
          </a:p>
          <a:p>
            <a:pPr algn="ctr">
              <a:defRPr sz="1100">
                <a:solidFill>
                  <a:srgbClr val="5F696E"/>
                </a:solidFill>
              </a:defRPr>
            </a:pPr>
            <a:r>
              <a:t>Sugarcane avg. profit</a:t>
            </a:r>
          </a:p>
        </p:txBody>
      </p:sp>
      <p:sp>
        <p:nvSpPr>
          <p:cNvPr id="38" name="Rounded Rectangle 37"/>
          <p:cNvSpPr/>
          <p:nvPr/>
        </p:nvSpPr>
        <p:spPr bwMode="auto">
          <a:xfrm>
            <a:off x="8229600" y="5486400"/>
            <a:ext cx="2834640" cy="777240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TextBox 38"/>
          <p:cNvSpPr txBox="1"/>
          <p:nvPr/>
        </p:nvSpPr>
        <p:spPr bwMode="auto">
          <a:xfrm>
            <a:off x="8394192" y="5605272"/>
            <a:ext cx="250545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500" b="1">
                <a:solidFill>
                  <a:srgbClr val="307852"/>
                </a:solidFill>
              </a:rPr>
              <a:t>8,029 m³</a:t>
            </a:r>
            <a:endParaRPr/>
          </a:p>
          <a:p>
            <a:pPr algn="ctr">
              <a:defRPr sz="1100">
                <a:solidFill>
                  <a:srgbClr val="5F696E"/>
                </a:solidFill>
              </a:defRPr>
            </a:pPr>
            <a:r>
              <a:t>Flood avg. water use</a:t>
            </a:r>
          </a:p>
        </p:txBody>
      </p:sp>
      <p:sp>
        <p:nvSpPr>
          <p:cNvPr id="40" name="Rectangle 39"/>
          <p:cNvSpPr/>
          <p:nvPr/>
        </p:nvSpPr>
        <p:spPr bwMode="auto">
          <a:xfrm>
            <a:off x="594360" y="6537960"/>
            <a:ext cx="10698480" cy="27432"/>
          </a:xfrm>
          <a:prstGeom prst="rect">
            <a:avLst/>
          </a:prstGeom>
          <a:solidFill>
            <a:srgbClr val="CE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TextBox 40"/>
          <p:cNvSpPr txBox="1"/>
          <p:nvPr/>
        </p:nvSpPr>
        <p:spPr bwMode="auto">
          <a:xfrm>
            <a:off x="10789920" y="658368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E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 bwMode="auto"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700" b="1">
                <a:solidFill>
                  <a:srgbClr val="183054"/>
                </a:solidFill>
              </a:rPr>
              <a:t>Future Scope</a:t>
            </a: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200">
                <a:solidFill>
                  <a:srgbClr val="5F696E"/>
                </a:solidFill>
              </a:rPr>
              <a:t>How the project can be extended</a:t>
            </a: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822960" y="132588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</a:defRPr>
            </a:pPr>
            <a:r>
              <a:t>• Add district/state-level analysis to identify regional differences.</a:t>
            </a:r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</a:defRPr>
            </a:pPr>
            <a:r>
              <a:t>• Build an interactive dashboard for season, crop, irrigation and profitability filters.</a:t>
            </a:r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</a:defRPr>
            </a:pPr>
            <a:r>
              <a:t>• Use predictive models to estimate yield or profit from weather, soil and farm inputs.</a:t>
            </a:r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</a:defRPr>
            </a:pPr>
            <a:r>
              <a:t>• Add time-series data from multiple years to separate seasonal effects from yearly changes.</a:t>
            </a:r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</a:defRPr>
            </a:pPr>
            <a:r>
              <a:t>• Introduce optimization analysis for water and input usage.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594360" y="6537960"/>
            <a:ext cx="10698480" cy="27432"/>
          </a:xfrm>
          <a:prstGeom prst="rect">
            <a:avLst/>
          </a:prstGeom>
          <a:solidFill>
            <a:srgbClr val="CE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10789920" y="658368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E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 bwMode="auto"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700" b="1">
                <a:solidFill>
                  <a:srgbClr val="183054"/>
                </a:solidFill>
              </a:rPr>
              <a:t>GitHub / Project Files</a:t>
            </a: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200">
                <a:solidFill>
                  <a:srgbClr val="5F696E"/>
                </a:solidFill>
              </a:rPr>
              <a:t>Reproducible analysis deliverables</a:t>
            </a: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868680" y="1600200"/>
            <a:ext cx="8975534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3054"/>
                </a:solidFill>
              </a:defRPr>
            </a:pPr>
            <a:r>
              <a:rPr dirty="0"/>
              <a:t>Project analysis script included with this submission: </a:t>
            </a:r>
            <a:endParaRPr lang="en-US" dirty="0"/>
          </a:p>
          <a:p>
            <a:pPr>
              <a:defRPr sz="1900" b="1">
                <a:solidFill>
                  <a:srgbClr val="183054"/>
                </a:solidFill>
              </a:defRPr>
            </a:pPr>
            <a:r>
              <a:rPr lang="en-US"/>
              <a:t>https://github.com/sahasreosi/Seasonal-Agriculture-Performance-Analysis.git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 bwMode="auto">
          <a:xfrm>
            <a:off x="868680" y="2743200"/>
            <a:ext cx="996696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</a:defRPr>
            </a:pPr>
            <a:r>
              <a:rPr dirty="0"/>
              <a:t>• Input: </a:t>
            </a:r>
            <a:r>
              <a:rPr dirty="0" err="1"/>
              <a:t>seasonal_agriculture_performance_dataset.xlsx</a:t>
            </a:r>
            <a:endParaRPr dirty="0"/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</a:defRPr>
            </a:pPr>
            <a:r>
              <a:rPr dirty="0"/>
              <a:t>• Outputs: season, crop and irrigation summary tables plus presentation charts.</a:t>
            </a:r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</a:defRPr>
            </a:pPr>
            <a:r>
              <a:rPr dirty="0"/>
              <a:t>• The script prints direct answers to the project questions without complex statistical modeling.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594360" y="6537960"/>
            <a:ext cx="10698480" cy="27432"/>
          </a:xfrm>
          <a:prstGeom prst="rect">
            <a:avLst/>
          </a:prstGeom>
          <a:solidFill>
            <a:srgbClr val="CE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10789920" y="658368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E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 bwMode="auto"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700" b="1">
                <a:solidFill>
                  <a:srgbClr val="183054"/>
                </a:solidFill>
              </a:rPr>
              <a:t>VOIS Course Completion</a:t>
            </a: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200">
                <a:solidFill>
                  <a:srgbClr val="5F696E"/>
                </a:solidFill>
              </a:rPr>
              <a:t>Course: Data Visualization</a:t>
            </a:r>
            <a:endParaRPr/>
          </a:p>
        </p:txBody>
      </p:sp>
      <p:sp>
        <p:nvSpPr>
          <p:cNvPr id="26" name="Rounded Rectangle 25"/>
          <p:cNvSpPr/>
          <p:nvPr/>
        </p:nvSpPr>
        <p:spPr bwMode="auto">
          <a:xfrm>
            <a:off x="1676650" y="1287005"/>
            <a:ext cx="9113270" cy="4983428"/>
          </a:xfrm>
          <a:prstGeom prst="roundRect">
            <a:avLst>
              <a:gd name="adj" fmla="val 16667"/>
            </a:avLst>
          </a:prstGeom>
          <a:solidFill>
            <a:srgbClr val="F5F8F6"/>
          </a:solidFill>
          <a:ln>
            <a:solidFill>
              <a:srgbClr val="CE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27" name="TextBox 26"/>
          <p:cNvSpPr txBox="1"/>
          <p:nvPr/>
        </p:nvSpPr>
        <p:spPr bwMode="auto">
          <a:xfrm>
            <a:off x="2331720" y="2057400"/>
            <a:ext cx="74980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83054"/>
                </a:solidFill>
              </a:defRPr>
            </a:pPr>
            <a:r>
              <a:rPr dirty="0"/>
              <a:t>VOIS / AICTE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2331720" y="2417880"/>
            <a:ext cx="74980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307852"/>
                </a:solidFill>
              </a:defRPr>
            </a:pPr>
            <a:r>
              <a:t>Data Visualization</a:t>
            </a:r>
          </a:p>
        </p:txBody>
      </p:sp>
      <p:sp>
        <p:nvSpPr>
          <p:cNvPr id="29" name="TextBox 28"/>
          <p:cNvSpPr txBox="1"/>
          <p:nvPr/>
        </p:nvSpPr>
        <p:spPr bwMode="auto">
          <a:xfrm>
            <a:off x="5988388" y="3657600"/>
            <a:ext cx="184730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23282D"/>
                </a:solidFill>
              </a:defRPr>
            </a:pPr>
            <a:endParaRPr/>
          </a:p>
        </p:txBody>
      </p:sp>
      <p:sp>
        <p:nvSpPr>
          <p:cNvPr id="31" name="Rectangle 30"/>
          <p:cNvSpPr/>
          <p:nvPr/>
        </p:nvSpPr>
        <p:spPr bwMode="auto">
          <a:xfrm>
            <a:off x="594360" y="6537960"/>
            <a:ext cx="10698480" cy="27432"/>
          </a:xfrm>
          <a:prstGeom prst="rect">
            <a:avLst/>
          </a:prstGeom>
          <a:solidFill>
            <a:srgbClr val="CE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TextBox 31"/>
          <p:cNvSpPr txBox="1"/>
          <p:nvPr/>
        </p:nvSpPr>
        <p:spPr bwMode="auto">
          <a:xfrm>
            <a:off x="10789920" y="658368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E"/>
                </a:solidFill>
              </a:defRPr>
            </a:pPr>
            <a:r>
              <a:t>13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6A64D4-EAF0-4BCE-2164-B38DB1CD0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689" y="3012240"/>
            <a:ext cx="6122692" cy="31660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TextBox 46"/>
          <p:cNvSpPr txBox="1"/>
          <p:nvPr/>
        </p:nvSpPr>
        <p:spPr bwMode="auto">
          <a:xfrm>
            <a:off x="731520" y="2057400"/>
            <a:ext cx="10744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83054"/>
                </a:solidFill>
              </a:defRPr>
            </a:pPr>
            <a:r>
              <a:t>THANK YOU</a:t>
            </a:r>
          </a:p>
        </p:txBody>
      </p:sp>
      <p:sp>
        <p:nvSpPr>
          <p:cNvPr id="48" name="TextBox 47"/>
          <p:cNvSpPr txBox="1"/>
          <p:nvPr/>
        </p:nvSpPr>
        <p:spPr bwMode="auto">
          <a:xfrm>
            <a:off x="1920240" y="3063240"/>
            <a:ext cx="832103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307852"/>
                </a:solidFill>
              </a:defRPr>
            </a:pPr>
            <a:r>
              <a:t>Seasonal Agriculture Performance Analysis</a:t>
            </a:r>
          </a:p>
        </p:txBody>
      </p:sp>
      <p:sp>
        <p:nvSpPr>
          <p:cNvPr id="49" name="TextBox 48"/>
          <p:cNvSpPr txBox="1"/>
          <p:nvPr/>
        </p:nvSpPr>
        <p:spPr bwMode="auto">
          <a:xfrm>
            <a:off x="1920240" y="3657600"/>
            <a:ext cx="8321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F696E"/>
                </a:solidFill>
              </a:defRPr>
            </a:pPr>
            <a:r>
              <a:t>Sreosi Saha • Manipal University Jaipur</a:t>
            </a:r>
          </a:p>
        </p:txBody>
      </p:sp>
      <p:sp>
        <p:nvSpPr>
          <p:cNvPr id="50" name="Rectangle 49"/>
          <p:cNvSpPr/>
          <p:nvPr/>
        </p:nvSpPr>
        <p:spPr bwMode="auto">
          <a:xfrm>
            <a:off x="594360" y="6537960"/>
            <a:ext cx="10698480" cy="27432"/>
          </a:xfrm>
          <a:prstGeom prst="rect">
            <a:avLst/>
          </a:prstGeom>
          <a:solidFill>
            <a:srgbClr val="CE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TextBox 50"/>
          <p:cNvSpPr txBox="1"/>
          <p:nvPr/>
        </p:nvSpPr>
        <p:spPr bwMode="auto">
          <a:xfrm>
            <a:off x="10789920" y="658368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6E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Arial"/>
        <a:cs typeface="Arial"/>
      </a:majorFont>
      <a:minorFont>
        <a:latin typeface="Trebuchet MS"/>
        <a:ea typeface="Arial"/>
        <a:cs typeface="Arial"/>
      </a:minorFont>
    </a:fontScheme>
    <a:fmtScheme name="Facet"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0</Words>
  <Application>Microsoft Office PowerPoint</Application>
  <DocSecurity>0</DocSecurity>
  <PresentationFormat>Widescreen</PresentationFormat>
  <Paragraphs>0</Paragraphs>
  <Slides>14</Slides>
  <Notes>0</Notes>
  <HiddenSlides>0</HiddenSlides>
  <MMClips>2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subject/>
  <dc:creator>Venkataswamy</dc:creator>
  <cp:keywords/>
  <dc:description/>
  <cp:lastModifiedBy>Sreosi Saha</cp:lastModifiedBy>
  <cp:revision>103</cp:revision>
  <dcterms:created xsi:type="dcterms:W3CDTF">2021-07-11T13:13:15Z</dcterms:created>
  <dcterms:modified xsi:type="dcterms:W3CDTF">2026-09-09T19:30:07Z</dcterms:modified>
  <cp:category/>
  <dc:identifier/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